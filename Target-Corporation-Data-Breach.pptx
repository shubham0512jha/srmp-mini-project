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69" r:id="rId15"/>
    <p:sldId id="270" r:id="rId16"/>
    <p:sldId id="267" r:id="rId17"/>
    <p:sldId id="268" r:id="rId18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11" Type="http://schemas.openxmlformats.org/officeDocument/2006/relationships/image" Target="../media/image6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svg"/><Relationship Id="rId11" Type="http://schemas.openxmlformats.org/officeDocument/2006/relationships/image" Target="../media/image6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ecurityexceptions.com/articles/security-risk-management-trends-2025?utm_source=chatgpt.com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ine.com/newsroom/top-5-cybersecurity-trends-of-2025?utm_source=chatgpt.com" TargetMode="External"/><Relationship Id="rId5" Type="http://schemas.openxmlformats.org/officeDocument/2006/relationships/hyperlink" Target="https://www.vanta.com/resources/security-trends-2025?utm_source=chatgpt.com" TargetMode="External"/><Relationship Id="rId4" Type="http://schemas.openxmlformats.org/officeDocument/2006/relationships/hyperlink" Target="https://www.centraleyes.com/top-cybersecurity-trends-to-watch-out-for/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427202"/>
            <a:ext cx="7556421" cy="28351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Corporation Data Breach (2013): Phishing Attack via Third-Party Vendor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48071" y="4338962"/>
            <a:ext cx="7556421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Case Study for Security Risk Management Principles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33951" y="5566291"/>
            <a:ext cx="72162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by: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Shubham Jha RA2311030010230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Hardik Jindal RA2311030010221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Ananya Dahiya RA2311030010236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133950" y="7156523"/>
            <a:ext cx="72162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SRM Institute of Science and Technology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89" y="5311139"/>
            <a:ext cx="45719" cy="2565763"/>
          </a:xfrm>
          <a:prstGeom prst="rect">
            <a:avLst/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pic>
        <p:nvPicPr>
          <p:cNvPr id="17409" name="Picture 1">
            <a:extLst>
              <a:ext uri="{FF2B5EF4-FFF2-40B4-BE49-F238E27FC236}">
                <a16:creationId xmlns:a16="http://schemas.microsoft.com/office/drawing/2014/main" id="{151383F5-CF0E-C924-AA99-C91F263F1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2926" y="0"/>
            <a:ext cx="5917474" cy="426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504F40E-5F1D-169F-A644-E15836C42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2926" y="-392415"/>
            <a:ext cx="227231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>
              <a:ln>
                <a:noFill/>
              </a:ln>
              <a:solidFill>
                <a:srgbClr val="1F1F1F"/>
              </a:solidFill>
              <a:effectLst/>
              <a:latin typeface="Helvetica Neue" panose="02000503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7E510C6B-1749-476C-A80F-05F682485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2926" y="4276088"/>
            <a:ext cx="5917474" cy="395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29BF3788-1668-7B7A-BB79-502CF4A84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2925" y="3883674"/>
            <a:ext cx="21990097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>
              <a:ln>
                <a:noFill/>
              </a:ln>
              <a:solidFill>
                <a:srgbClr val="474747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7456" y="469463"/>
            <a:ext cx="9350573" cy="5335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the Target Breach Case Study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597456" y="1429583"/>
            <a:ext cx="3623905" cy="3200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Corporation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7456" y="1920240"/>
            <a:ext cx="7894677" cy="8193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Corporation is one of the largest general merchandise retailers in the United States, operating a vast network of physical stores and e-commerce platforms. Its expansive operations involve significant volumes of sensitive customer and operational data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l">
              <a:lnSpc>
                <a:spcPts val="2150"/>
              </a:lnSpc>
              <a:buNone/>
            </a:pPr>
            <a:endParaRPr lang="en-US" sz="130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2150"/>
              </a:lnSpc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7456" y="3490553"/>
            <a:ext cx="3349109" cy="3200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Sensitivity and Scope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7456" y="3978235"/>
            <a:ext cx="7894677" cy="2731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Handled millions of customer transactions daily across multiple points-of-sale (POS).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7456" y="4419006"/>
            <a:ext cx="7894677" cy="2731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Maintained a large network requiring secure access for numerous third-party vendors.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7456" y="4811044"/>
            <a:ext cx="7894677" cy="546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2013 breach exposed critical flaws in third-party access management and network security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850" y="668179"/>
            <a:ext cx="5124212" cy="51242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086850" y="6118740"/>
            <a:ext cx="5124212" cy="1442681"/>
          </a:xfrm>
          <a:prstGeom prst="roundRect">
            <a:avLst>
              <a:gd name="adj" fmla="val 5639"/>
            </a:avLst>
          </a:prstGeom>
          <a:solidFill>
            <a:srgbClr val="C7C9EA"/>
          </a:solidFill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994" y="6562435"/>
            <a:ext cx="213360" cy="1706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53707" y="6375142"/>
            <a:ext cx="4399002" cy="8193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purpose of this report is to analyse the causes, impact, and post-incident risk control measures related to the 2013 Target data breach.</a:t>
            </a:r>
            <a:endParaRPr lang="en-US" sz="1300" dirty="0"/>
          </a:p>
        </p:txBody>
      </p:sp>
      <p:pic>
        <p:nvPicPr>
          <p:cNvPr id="13" name="Picture 1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3B75EA9-12BA-71AB-865D-4B3484BDBE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883BB0-8EE1-2178-AEB3-57E0A202E2B9}"/>
              </a:ext>
            </a:extLst>
          </p:cNvPr>
          <p:cNvSpPr txBox="1"/>
          <p:nvPr/>
        </p:nvSpPr>
        <p:spPr>
          <a:xfrm>
            <a:off x="574766" y="674987"/>
            <a:ext cx="94183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What is Phishing Attack ?</a:t>
            </a:r>
            <a:endParaRPr lang="en-US" sz="385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4050F8-9854-4D13-7FBF-65C424CD5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766" y="1676461"/>
            <a:ext cx="1329081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Phishing is a type of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cyberattack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where attackers try to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trick you into giving sensitive information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like passwords, credit card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numbers, or personal details. They often do this by pretending to be a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trusted entity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such as a bank, social media site,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 a colleague, usually via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emails, messages, or fake websites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Key points about phishing: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Deceptive emails or messages: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They look real and urgent, e.g., "Your account will be locked unless you verify it now."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Fake websites: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Sites that look like legitimate ones to steal login credentials.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Malicious links or attachments: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Clicking them can download malware or lead to credential theft.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Steal personal data, money, or gain unauthorized access to accounts.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1F8A81D-9BA4-46C8-1721-F6070A467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68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020" y="951190"/>
            <a:ext cx="12576215" cy="6509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2013 Incident: Breach Overview and Timeline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03770" y="2018705"/>
            <a:ext cx="22860" cy="5259705"/>
          </a:xfrm>
          <a:prstGeom prst="roundRect">
            <a:avLst>
              <a:gd name="adj" fmla="val 382724"/>
            </a:avLst>
          </a:prstGeom>
          <a:solidFill>
            <a:srgbClr val="C0C1D7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21460" y="2241590"/>
            <a:ext cx="416600" cy="22860"/>
          </a:xfrm>
          <a:prstGeom prst="roundRect">
            <a:avLst>
              <a:gd name="adj" fmla="val 382724"/>
            </a:avLst>
          </a:prstGeom>
          <a:solidFill>
            <a:srgbClr val="C0C1D7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37095" y="2174915"/>
            <a:ext cx="156210" cy="156210"/>
          </a:xfrm>
          <a:prstGeom prst="roundRect">
            <a:avLst>
              <a:gd name="adj" fmla="val 292683"/>
            </a:avLst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93018" y="2090261"/>
            <a:ext cx="3288983" cy="325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Access (Early 2013)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729020" y="2540556"/>
            <a:ext cx="5752981" cy="1000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used a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attack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steal network credentials from Fazio Mechanical Services, Target's HVAC (Heating, Ventilation, and Air Conditioning) vendor.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92340" y="3491389"/>
            <a:ext cx="416600" cy="22860"/>
          </a:xfrm>
          <a:prstGeom prst="roundRect">
            <a:avLst>
              <a:gd name="adj" fmla="val 382724"/>
            </a:avLst>
          </a:prstGeom>
          <a:solidFill>
            <a:srgbClr val="C0C1D7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37095" y="3424714"/>
            <a:ext cx="156210" cy="156210"/>
          </a:xfrm>
          <a:prstGeom prst="roundRect">
            <a:avLst>
              <a:gd name="adj" fmla="val 292683"/>
            </a:avLst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48399" y="3340060"/>
            <a:ext cx="5196364" cy="325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Lateral Movement &amp; Malware (Nov. 2013)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8148399" y="3790355"/>
            <a:ext cx="5752981" cy="1000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exploited the vendor's compromised credentials to access Target’s internal network and deploy custom malware on POS systems.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21460" y="4568666"/>
            <a:ext cx="416600" cy="22860"/>
          </a:xfrm>
          <a:prstGeom prst="roundRect">
            <a:avLst>
              <a:gd name="adj" fmla="val 382724"/>
            </a:avLst>
          </a:prstGeom>
          <a:solidFill>
            <a:srgbClr val="C0C1D7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37095" y="4501991"/>
            <a:ext cx="156210" cy="156210"/>
          </a:xfrm>
          <a:prstGeom prst="roundRect">
            <a:avLst>
              <a:gd name="adj" fmla="val 292683"/>
            </a:avLst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3192" y="4417338"/>
            <a:ext cx="5708809" cy="325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Exfiltration (Late Nov. - Early Dec. 2013)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729020" y="4867632"/>
            <a:ext cx="5752981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was collected from compromised POS terminals and exfiltrated to external servers before detection.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92340" y="5645944"/>
            <a:ext cx="416600" cy="22860"/>
          </a:xfrm>
          <a:prstGeom prst="roundRect">
            <a:avLst>
              <a:gd name="adj" fmla="val 382724"/>
            </a:avLst>
          </a:prstGeom>
          <a:solidFill>
            <a:srgbClr val="C0C1D7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37095" y="5579269"/>
            <a:ext cx="156210" cy="156210"/>
          </a:xfrm>
          <a:prstGeom prst="roundRect">
            <a:avLst>
              <a:gd name="adj" fmla="val 292683"/>
            </a:avLst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48399" y="5494615"/>
            <a:ext cx="3719632" cy="325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Public Disclosure (Dec. 2013)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8148399" y="5944910"/>
            <a:ext cx="5752981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breach was publicly announced, confirming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million payment card details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later,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 million customer records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(names, addresses, phone numbers) were stolen.</a:t>
            </a:r>
            <a:endParaRPr lang="en-US" sz="1600" dirty="0"/>
          </a:p>
        </p:txBody>
      </p:sp>
      <p:pic>
        <p:nvPicPr>
          <p:cNvPr id="20" name="Picture 19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C64F495-4997-9839-5AA5-D066C1EEA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6151"/>
            <a:ext cx="8559522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Identification of Critical Assets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98558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these five key assets should have been the highest priority, as their compromise led directly to catastrophic data loss and financial damage.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79514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4344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Card Data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233863"/>
            <a:ext cx="6379607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target of the attack; included magnetic stripe data, PINs, and account numbers. High sensitivity.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779514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743444"/>
            <a:ext cx="399133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Point-of-Sale (POS) Systems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233863"/>
            <a:ext cx="637972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 point for data collection; systems lacked sufficient anti-malware and monitoring controls.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413296"/>
            <a:ext cx="680442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37722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Vendor Credentials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867644"/>
            <a:ext cx="6379607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initial compromise vector; these access credentials were not segmented or restricted adequately.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5413296"/>
            <a:ext cx="680442" cy="6804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37722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Network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867644"/>
            <a:ext cx="637972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 for lateral movement due to flat structure and insufficient network segmentation.</a:t>
            </a:r>
            <a:endParaRPr lang="en-US" sz="1750" dirty="0"/>
          </a:p>
        </p:txBody>
      </p:sp>
      <p:pic>
        <p:nvPicPr>
          <p:cNvPr id="16" name="Picture 1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BBA3B5F-E6ED-A918-C92B-3805973C62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495" y="566142"/>
            <a:ext cx="13191411" cy="12849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Identification: Threats and Vulnerabilities Exploited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9495" y="2570559"/>
            <a:ext cx="6492954" cy="1844873"/>
          </a:xfrm>
          <a:prstGeom prst="roundRect">
            <a:avLst>
              <a:gd name="adj" fmla="val 5948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9495" y="2547699"/>
            <a:ext cx="6492954" cy="91440"/>
          </a:xfrm>
          <a:prstGeom prst="roundRect">
            <a:avLst>
              <a:gd name="adj" fmla="val 94437"/>
            </a:avLst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0" y="2262188"/>
            <a:ext cx="616744" cy="616744"/>
          </a:xfrm>
          <a:prstGeom prst="roundRect">
            <a:avLst>
              <a:gd name="adj" fmla="val 148262"/>
            </a:avLst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2623" y="2416373"/>
            <a:ext cx="246698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47857" y="3084552"/>
            <a:ext cx="2569964" cy="3212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Phishing Threat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7857" y="3529132"/>
            <a:ext cx="6036231" cy="6579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Exploited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Weak employee/vendor security awareness and insufficient email filtering.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17951" y="2570559"/>
            <a:ext cx="6492954" cy="1844873"/>
          </a:xfrm>
          <a:prstGeom prst="roundRect">
            <a:avLst>
              <a:gd name="adj" fmla="val 5948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17951" y="2547699"/>
            <a:ext cx="6492954" cy="91440"/>
          </a:xfrm>
          <a:prstGeom prst="roundRect">
            <a:avLst>
              <a:gd name="adj" fmla="val 94437"/>
            </a:avLst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356056" y="2262188"/>
            <a:ext cx="616744" cy="616744"/>
          </a:xfrm>
          <a:prstGeom prst="roundRect">
            <a:avLst>
              <a:gd name="adj" fmla="val 148262"/>
            </a:avLst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41079" y="2416373"/>
            <a:ext cx="246698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46313" y="3084552"/>
            <a:ext cx="2588895" cy="3212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Specialised Malware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46313" y="3529132"/>
            <a:ext cx="6036231" cy="6579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Exploited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Lack of advanced endpoint detection and response (EDR) on POS systems.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9495" y="4929307"/>
            <a:ext cx="6492954" cy="1844873"/>
          </a:xfrm>
          <a:prstGeom prst="roundRect">
            <a:avLst>
              <a:gd name="adj" fmla="val 5948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9495" y="4906447"/>
            <a:ext cx="6492954" cy="91440"/>
          </a:xfrm>
          <a:prstGeom prst="roundRect">
            <a:avLst>
              <a:gd name="adj" fmla="val 94437"/>
            </a:avLst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0" y="4620935"/>
            <a:ext cx="616744" cy="616744"/>
          </a:xfrm>
          <a:prstGeom prst="roundRect">
            <a:avLst>
              <a:gd name="adj" fmla="val 148262"/>
            </a:avLst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2623" y="4775121"/>
            <a:ext cx="246698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47857" y="5443299"/>
            <a:ext cx="2569964" cy="3212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Lateral Movement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47857" y="5887879"/>
            <a:ext cx="6036231" cy="6579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Exploited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Poor network segmentation, allowing vendor access to critical POS infrastructure.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17951" y="4929307"/>
            <a:ext cx="6492954" cy="1844873"/>
          </a:xfrm>
          <a:prstGeom prst="roundRect">
            <a:avLst>
              <a:gd name="adj" fmla="val 5948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17951" y="4906447"/>
            <a:ext cx="6492954" cy="91440"/>
          </a:xfrm>
          <a:prstGeom prst="roundRect">
            <a:avLst>
              <a:gd name="adj" fmla="val 94437"/>
            </a:avLst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356056" y="4620935"/>
            <a:ext cx="616744" cy="616744"/>
          </a:xfrm>
          <a:prstGeom prst="roundRect">
            <a:avLst>
              <a:gd name="adj" fmla="val 148262"/>
            </a:avLst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41079" y="4775121"/>
            <a:ext cx="246698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646313" y="5443299"/>
            <a:ext cx="2569964" cy="3212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Exfiltration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46313" y="5887879"/>
            <a:ext cx="6036231" cy="6579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Exploited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Inadequate monitoring and alerting systems that failed to flag large outbound data transfers.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9495" y="7005399"/>
            <a:ext cx="13191411" cy="6579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intertwined weaknesses provided the attackers with the necessary window and permissions to execute the entire attack chain successfully.</a:t>
            </a:r>
            <a:endParaRPr lang="en-US" sz="1600" dirty="0"/>
          </a:p>
        </p:txBody>
      </p:sp>
      <p:pic>
        <p:nvPicPr>
          <p:cNvPr id="28" name="Picture 27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19C5D48-222A-2F8B-4762-436C9459C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799" y="531019"/>
            <a:ext cx="11337131" cy="6034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Threat–Vulnerability Mapping: The Attack Chain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5799" y="1520547"/>
            <a:ext cx="13278803" cy="3089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entire incident was a result of successful chain reactions, starting with a social engineering failure and ending with poor network controls.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48" y="2046684"/>
            <a:ext cx="13169384" cy="56789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6629" y="6648672"/>
            <a:ext cx="2987680" cy="373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Theft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616629" y="5334093"/>
            <a:ext cx="3089552" cy="373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Malware Deployment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616629" y="4032792"/>
            <a:ext cx="2987680" cy="373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Stolen Credentials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16629" y="2718213"/>
            <a:ext cx="2987680" cy="373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Phishing</a:t>
            </a:r>
            <a:endParaRPr lang="en-US" sz="1350" dirty="0"/>
          </a:p>
        </p:txBody>
      </p:sp>
      <p:pic>
        <p:nvPicPr>
          <p:cNvPr id="9" name="Picture 8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76D8A4B-7AD1-FE02-A5AD-E2E505E8B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8" y="602933"/>
            <a:ext cx="9524167" cy="682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Analysis: Determining Severity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4858" y="1722834"/>
            <a:ext cx="13100685" cy="6991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a standard Risk Rating Matrix (Likelihood × Impact), the following risks scored the highest due to the enormous financial and reputational consequences.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332" y="2667714"/>
            <a:ext cx="1621155" cy="778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6200" y="2948702"/>
            <a:ext cx="307300" cy="3840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068967" y="2886194"/>
            <a:ext cx="3208853" cy="341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R1: Regulatory Penalties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4905018" y="3458051"/>
            <a:ext cx="8905994" cy="15240"/>
          </a:xfrm>
          <a:prstGeom prst="roundRect">
            <a:avLst>
              <a:gd name="adj" fmla="val 602250"/>
            </a:avLst>
          </a:prstGeom>
          <a:solidFill>
            <a:srgbClr val="C0C1D7"/>
          </a:solidFill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755" y="3500557"/>
            <a:ext cx="3242310" cy="778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86200" y="3697605"/>
            <a:ext cx="307300" cy="3840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5879544" y="3719036"/>
            <a:ext cx="3618071" cy="341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R2: Loss of Customer Trust</a:t>
            </a:r>
            <a:endParaRPr lang="en-US" sz="2150" dirty="0"/>
          </a:p>
        </p:txBody>
      </p:sp>
      <p:sp>
        <p:nvSpPr>
          <p:cNvPr id="11" name="Shape 7"/>
          <p:cNvSpPr/>
          <p:nvPr/>
        </p:nvSpPr>
        <p:spPr>
          <a:xfrm>
            <a:off x="5715595" y="4290893"/>
            <a:ext cx="8095417" cy="15240"/>
          </a:xfrm>
          <a:prstGeom prst="roundRect">
            <a:avLst>
              <a:gd name="adj" fmla="val 602250"/>
            </a:avLst>
          </a:prstGeom>
          <a:solidFill>
            <a:srgbClr val="C0C1D7"/>
          </a:solidFill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177" y="4333399"/>
            <a:ext cx="4863584" cy="778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86200" y="4530447"/>
            <a:ext cx="307300" cy="3840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6690241" y="4551878"/>
            <a:ext cx="4810958" cy="341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R3: Financial Loss (Direct &amp; Indirect)</a:t>
            </a:r>
            <a:endParaRPr lang="en-US" sz="2150" dirty="0"/>
          </a:p>
        </p:txBody>
      </p:sp>
      <p:sp>
        <p:nvSpPr>
          <p:cNvPr id="15" name="Shape 10"/>
          <p:cNvSpPr/>
          <p:nvPr/>
        </p:nvSpPr>
        <p:spPr>
          <a:xfrm>
            <a:off x="6526292" y="5123736"/>
            <a:ext cx="7284720" cy="15240"/>
          </a:xfrm>
          <a:prstGeom prst="roundRect">
            <a:avLst>
              <a:gd name="adj" fmla="val 602250"/>
            </a:avLst>
          </a:prstGeom>
          <a:solidFill>
            <a:srgbClr val="C0C1D7"/>
          </a:solidFill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600" y="5166241"/>
            <a:ext cx="6484739" cy="778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86319" y="5363289"/>
            <a:ext cx="307300" cy="3840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7500818" y="5384721"/>
            <a:ext cx="3821549" cy="341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R4: Large-Scale Data Breach</a:t>
            </a:r>
            <a:endParaRPr lang="en-US" sz="2150" dirty="0"/>
          </a:p>
        </p:txBody>
      </p:sp>
      <p:sp>
        <p:nvSpPr>
          <p:cNvPr id="19" name="Text 13"/>
          <p:cNvSpPr/>
          <p:nvPr/>
        </p:nvSpPr>
        <p:spPr>
          <a:xfrm>
            <a:off x="1092637" y="6436043"/>
            <a:ext cx="12772906" cy="349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Catastrophic (Financial losses exceeding $200 million, CEO resignation, major reputation damage).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092637" y="7031355"/>
            <a:ext cx="12772906" cy="349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Likelihood: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(Vulnerabilities were known industry risks, but controls were insufficient).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764858" y="6190298"/>
            <a:ext cx="30480" cy="1436370"/>
          </a:xfrm>
          <a:prstGeom prst="rect">
            <a:avLst/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pic>
        <p:nvPicPr>
          <p:cNvPr id="22" name="Picture 2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D96C7D1F-D47E-A4E7-EE61-8EBC30558D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711" y="732234"/>
            <a:ext cx="11669911" cy="6542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Essential Risk Control Measures Implemented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2711" y="1805107"/>
            <a:ext cx="13164979" cy="3348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Post-breach remediation focused on strengthening security across three key defense layers: Prevention, Detection, and Correction.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975723" y="3297555"/>
            <a:ext cx="2616994" cy="3270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Preventive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732711" y="3750231"/>
            <a:ext cx="3860006" cy="10044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Multi-Factor Authentication (MFA) for all third-party access.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2711" y="4827865"/>
            <a:ext cx="3860006" cy="10044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network segmentation between vendor access and POS network.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2711" y="5905500"/>
            <a:ext cx="3860006" cy="669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phishing simulation and awareness training.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341" y="2632472"/>
            <a:ext cx="4607719" cy="4607719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1462" y="4789051"/>
            <a:ext cx="294323" cy="2943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19059" y="2375416"/>
            <a:ext cx="2616994" cy="3270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Corrective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9619059" y="2828092"/>
            <a:ext cx="4278630" cy="669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Revised and tested Incident Response Plan (IRP) for faster containment.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619059" y="3570923"/>
            <a:ext cx="4278630" cy="669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Forensics and external audit of all compromised systems.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1341" y="2632472"/>
            <a:ext cx="4607719" cy="4607719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61208" y="3761423"/>
            <a:ext cx="294323" cy="2943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19059" y="4554498"/>
            <a:ext cx="2616994" cy="3270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Detective</a:t>
            </a:r>
            <a:endParaRPr lang="en-US" sz="2050" dirty="0"/>
          </a:p>
        </p:txBody>
      </p:sp>
      <p:sp>
        <p:nvSpPr>
          <p:cNvPr id="16" name="Text 10"/>
          <p:cNvSpPr/>
          <p:nvPr/>
        </p:nvSpPr>
        <p:spPr>
          <a:xfrm>
            <a:off x="9619059" y="5007173"/>
            <a:ext cx="4278630" cy="669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of Security Information and Event Management (SIEM).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619059" y="5750004"/>
            <a:ext cx="4278630" cy="10044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of advanced Intrusion Detection/Prevention Systems (IDS/IPS).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619059" y="6827639"/>
            <a:ext cx="4278630" cy="669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 of EDR solutions across all endpoints.</a:t>
            </a:r>
            <a:endParaRPr lang="en-US" sz="16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1341" y="2632472"/>
            <a:ext cx="4607719" cy="4607719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61208" y="5816560"/>
            <a:ext cx="294323" cy="294323"/>
          </a:xfrm>
          <a:prstGeom prst="rect">
            <a:avLst/>
          </a:prstGeom>
        </p:spPr>
      </p:pic>
      <p:pic>
        <p:nvPicPr>
          <p:cNvPr id="21" name="Picture 20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13428EA-A67C-C877-157D-ABB2BA5AE6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0506"/>
            <a:ext cx="10625852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Control Implementation Summary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52913"/>
            <a:ext cx="13042821" cy="4068128"/>
          </a:xfrm>
          <a:prstGeom prst="roundRect">
            <a:avLst>
              <a:gd name="adj" fmla="val 23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1410" y="2360533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581" y="2504242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R4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335054" y="2504242"/>
            <a:ext cx="279558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Segmentation &amp; Tokenization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591889" y="2504242"/>
            <a:ext cx="21441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Preventive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197334" y="2504242"/>
            <a:ext cx="279558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Security &amp; DevSecOps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454170" y="2504242"/>
            <a:ext cx="214800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373755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8581" y="3517463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R3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2335054" y="3517463"/>
            <a:ext cx="279558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MFA for Vendors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591889" y="3517463"/>
            <a:ext cx="21441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Preventive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197334" y="3517463"/>
            <a:ext cx="279558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&amp; Access Management (IAM)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1454170" y="3517463"/>
            <a:ext cx="214800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386977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8581" y="4530685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2335054" y="4530685"/>
            <a:ext cx="27955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SIEM Monitoring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591889" y="4530685"/>
            <a:ext cx="21441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Detective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197334" y="4530685"/>
            <a:ext cx="279558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Operations Center (SOC)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1454170" y="4530685"/>
            <a:ext cx="214800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Medium-High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801410" y="5400199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28581" y="5543907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2335054" y="5543907"/>
            <a:ext cx="279558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Phishing Simulations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5591889" y="5543907"/>
            <a:ext cx="21441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Preventive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8197334" y="5543907"/>
            <a:ext cx="27955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&amp; Training Department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1454170" y="5543907"/>
            <a:ext cx="214800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93790" y="667619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controls are designed to mitigate the likelihood and impact of similar third-party compromise scenarios.</a:t>
            </a:r>
            <a:endParaRPr lang="en-US" sz="1750" dirty="0"/>
          </a:p>
        </p:txBody>
      </p:sp>
      <p:pic>
        <p:nvPicPr>
          <p:cNvPr id="29" name="Picture 28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1C32911-06F8-C76D-B62F-E0CC91E52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205" y="671512"/>
            <a:ext cx="12366546" cy="6162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Residual Risk Evaluation: Post-Control Environment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90205" y="1682115"/>
            <a:ext cx="13249989" cy="6307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robust controls significantly reduced the exposure across key attack vectors, shifting the risk profile from "Extreme" to "Moderate" or "Acceptable" in most categories.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0205" y="2534722"/>
            <a:ext cx="6526411" cy="2255401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9E2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4993" y="2739509"/>
            <a:ext cx="591622" cy="591622"/>
          </a:xfrm>
          <a:prstGeom prst="roundRect">
            <a:avLst>
              <a:gd name="adj" fmla="val 15454269"/>
            </a:avLst>
          </a:prstGeom>
          <a:solidFill>
            <a:srgbClr val="9E2A2B"/>
          </a:solidFill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632" y="2902148"/>
            <a:ext cx="266224" cy="266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4993" y="3528298"/>
            <a:ext cx="2517815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Risk Likelihood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94993" y="3954542"/>
            <a:ext cx="6116836" cy="6307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success and network traversal were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due to insufficient controls and a flat network structure.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13784" y="2534722"/>
            <a:ext cx="6526411" cy="2255401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5E5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18571" y="2739509"/>
            <a:ext cx="591622" cy="591622"/>
          </a:xfrm>
          <a:prstGeom prst="roundRect">
            <a:avLst>
              <a:gd name="adj" fmla="val 15454269"/>
            </a:avLst>
          </a:prstGeom>
          <a:solidFill>
            <a:srgbClr val="5E5E5E"/>
          </a:solidFill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1211" y="2902148"/>
            <a:ext cx="266224" cy="2662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8571" y="3528298"/>
            <a:ext cx="2831187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Post-Control Likelihood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618571" y="3954542"/>
            <a:ext cx="6116836" cy="6307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MFA, segmentation, and better security awareness reduce the likelihood of a successful breach to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Low-Medium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90205" y="4987290"/>
            <a:ext cx="6526411" cy="2570798"/>
          </a:xfrm>
          <a:prstGeom prst="roundRect">
            <a:avLst>
              <a:gd name="adj" fmla="val 3222"/>
            </a:avLst>
          </a:prstGeom>
          <a:solidFill>
            <a:srgbClr val="DADBF1"/>
          </a:solidFill>
          <a:ln w="7620">
            <a:solidFill>
              <a:srgbClr val="9E2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94993" y="5192078"/>
            <a:ext cx="591622" cy="591622"/>
          </a:xfrm>
          <a:prstGeom prst="roundRect">
            <a:avLst>
              <a:gd name="adj" fmla="val 15454269"/>
            </a:avLst>
          </a:prstGeom>
          <a:solidFill>
            <a:srgbClr val="9E2A2B"/>
          </a:solidFill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7632" y="5354717"/>
            <a:ext cx="266224" cy="2662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993" y="5980867"/>
            <a:ext cx="2465070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Risk Impact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94993" y="6407110"/>
            <a:ext cx="6116836" cy="6307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scale data exfiltration had an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impact, leading to long-term financial and legal repercussions.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413784" y="4987290"/>
            <a:ext cx="6526411" cy="2570798"/>
          </a:xfrm>
          <a:prstGeom prst="roundRect">
            <a:avLst>
              <a:gd name="adj" fmla="val 3222"/>
            </a:avLst>
          </a:prstGeom>
          <a:solidFill>
            <a:srgbClr val="DADBF1"/>
          </a:solidFill>
          <a:ln w="7620">
            <a:solidFill>
              <a:srgbClr val="5E5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618571" y="5192078"/>
            <a:ext cx="591622" cy="591622"/>
          </a:xfrm>
          <a:prstGeom prst="roundRect">
            <a:avLst>
              <a:gd name="adj" fmla="val 15454269"/>
            </a:avLst>
          </a:prstGeom>
          <a:solidFill>
            <a:srgbClr val="5E5E5E"/>
          </a:solidFill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1211" y="5354717"/>
            <a:ext cx="266224" cy="266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8571" y="5980867"/>
            <a:ext cx="2485787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Residual Risk Impact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618571" y="6407110"/>
            <a:ext cx="6116836" cy="9461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Tokenization and segmentation ensure that if a breach occurs, the volume and sensitivity of stolen data is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Reduced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pic>
        <p:nvPicPr>
          <p:cNvPr id="24" name="Picture 2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3DFD426-F310-8B1B-3E6A-85D5DACBC0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62B5D65-9240-918E-B038-64CA8CBE5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32898"/>
            <a:ext cx="19333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39081-E8B8-1AA3-4F0F-91087C69E712}"/>
              </a:ext>
            </a:extLst>
          </p:cNvPr>
          <p:cNvSpPr txBox="1"/>
          <p:nvPr/>
        </p:nvSpPr>
        <p:spPr>
          <a:xfrm>
            <a:off x="627017" y="717564"/>
            <a:ext cx="8830492" cy="693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Architecture Design Of Phishing Attacks</a:t>
            </a:r>
            <a:endParaRPr lang="en-US" sz="3850" dirty="0"/>
          </a:p>
        </p:txBody>
      </p:sp>
      <p:pic>
        <p:nvPicPr>
          <p:cNvPr id="7" name="Picture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1BC3ACA-49F4-B1CA-E8A0-92615856A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  <p:pic>
        <p:nvPicPr>
          <p:cNvPr id="9" name="Picture 8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FD1854D4-DF6C-9BE1-38B9-E6DE646CA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7" y="1596203"/>
            <a:ext cx="13337177" cy="591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333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3D365F3-AFF0-7D2E-EFF0-588ADE8DC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8C676F-36D8-B1C8-3B78-A23B4AD97A80}"/>
              </a:ext>
            </a:extLst>
          </p:cNvPr>
          <p:cNvSpPr txBox="1"/>
          <p:nvPr/>
        </p:nvSpPr>
        <p:spPr>
          <a:xfrm>
            <a:off x="613954" y="758890"/>
            <a:ext cx="7315200" cy="693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/>
              <a:t>Current Situation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4B8DB2F-3060-90C8-868B-E500CF5FA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954" y="1698571"/>
            <a:ext cx="133282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Organisations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are facing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increasing cyber-threat complexity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including AI-driven attacks, supply-chain vulnerabilities,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and an expanding attack surface (cloud, IoT, machine identities).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3"/>
              </a:rPr>
              <a:t>INE+3securityexceptions.com+3gartner.com+3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There is a strong shift towards frameworks like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Zero Trust Architecture (ZTA)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continuous monitoring and identity-first security,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replacing traditional perimeter-only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defences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4"/>
              </a:rPr>
              <a:t>Centraleyes+2ansecurity.com+2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Third-party/vendor risk and supply‐chain security are major concerns, with many incidents traced to vendor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and software dependencies.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5"/>
              </a:rPr>
              <a:t>Vanta+1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AI and machine learning are playing dual roles: they’re enhancing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defence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capabilities, but are also being used by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threat actors to automate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personalise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attacks.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6"/>
              </a:rPr>
              <a:t>INE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Governance, risk management and compliance (GRC) functions are under pressure: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organisations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need 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adopt continuous risk assessment, live risk dashboards, and integrate SRMP into business strategy rather than just IT.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107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A01ED0-20EA-09F8-11B1-2E96BEB1CB0A}"/>
              </a:ext>
            </a:extLst>
          </p:cNvPr>
          <p:cNvSpPr txBox="1"/>
          <p:nvPr/>
        </p:nvSpPr>
        <p:spPr>
          <a:xfrm>
            <a:off x="548640" y="628261"/>
            <a:ext cx="7315200" cy="693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How it is related to SRMP</a:t>
            </a:r>
            <a:endParaRPr lang="en-US" sz="3850" dirty="0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D4B167DA-8290-2E4C-3D5A-2E41390C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1697021"/>
            <a:ext cx="12491561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SRMP course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focuses on identifying, analyzing, evaluating, and mitigating security risks within information systems.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Target breach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real-world application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of these very principles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28">
            <a:extLst>
              <a:ext uri="{FF2B5EF4-FFF2-40B4-BE49-F238E27FC236}">
                <a16:creationId xmlns:a16="http://schemas.microsoft.com/office/drawing/2014/main" id="{E92170F6-972E-2EF8-0D10-1C7F1D53F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2393485"/>
            <a:ext cx="11571501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2000" b="1" dirty="0">
              <a:solidFill>
                <a:srgbClr val="000000"/>
              </a:solidFill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Risk Identification (SRMP Principle)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identify what went wrong — the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phishing attack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on the third-party vendor.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corresponds to 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“Identify” phase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of SRMP, where assets, threats, and vulnerabilities are documented.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the case: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Assets: POS systems, customer data, vendor credentials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Threats: Phishing, malware, data exfiltration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Vulnerabilities: Lack of MFA, weak segmentation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29">
            <a:extLst>
              <a:ext uri="{FF2B5EF4-FFF2-40B4-BE49-F238E27FC236}">
                <a16:creationId xmlns:a16="http://schemas.microsoft.com/office/drawing/2014/main" id="{EBB8E9ED-0A8E-E969-BBC7-1618CC94C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5808505"/>
            <a:ext cx="827566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Risk Analysis and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used a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Risk Matrix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to rate risks by likelihood and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shows how SRMP emphasizes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quantifying risk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(e.g., R1–R4 High Risk).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the case: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R1: Phishing (High risk)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R2: Lateral movement (High)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Evaluation leads to prioritizing controls.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5" name="Picture 3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FDBFCBC-F626-DF52-6494-128809042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16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C129D8-6776-4189-D57B-D182D6C7F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389" y="537832"/>
            <a:ext cx="1167851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Risk Control / Treatment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proposed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Preventive, Detective, and Corrective Controls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exactly as SRMP teaches for risk mitigation.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the case: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Preventive: MFA, segmentation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Detective: EDR, SIEM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Corrective: Incident Response plan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C4005-634F-31F3-20C6-703B67B5D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389" y="2787323"/>
            <a:ext cx="10541347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4. Continuous Monitoring (Residual Risk Evaluation)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Even after controls, SRMP stresses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residual risk monitoring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included this in your case — regular audits and SOC monitoring ensure risks remain acceptable.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815351-C82E-A32B-8BF6-B4127F8FF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389" y="4095864"/>
            <a:ext cx="12375183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5.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Framework Alignment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SRMP promotes aligning with standards like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NIST SP 800-30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ISO/IEC 27005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both explicitly used in your report.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These frameworks are central to professional security risk management practice.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EB19A7F-1A12-194B-2430-E880609AE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427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3E32FC-100D-2FE5-FA44-C8897C456B03}"/>
              </a:ext>
            </a:extLst>
          </p:cNvPr>
          <p:cNvSpPr txBox="1"/>
          <p:nvPr/>
        </p:nvSpPr>
        <p:spPr>
          <a:xfrm>
            <a:off x="731520" y="628261"/>
            <a:ext cx="7315200" cy="693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932C52-B938-6DEE-9E99-D3623F34D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" y="-7347102"/>
            <a:ext cx="12597231" cy="12003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2013 Target data breach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shows how a phishing attack on a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third-party vendor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can lead to a large-scale corporate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compromise.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 exposed weaknesses in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vendor management, network segmentation, and employee awareness.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By applying strong controls such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Multi-Factor Authentication (MFA)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Vendor risk assessment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Continuous security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Real-time monitoring and incident response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organizations can greatly reduce their exposure.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Aligning with standards like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NIST SP 800-30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ISO/IEC 27005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helps establish a robust risk management culture.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3D7C442-63AA-FEEB-9D44-6381698B9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96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2B74B4-FC78-5B00-5F3E-84AAD4D219BF}"/>
              </a:ext>
            </a:extLst>
          </p:cNvPr>
          <p:cNvSpPr txBox="1"/>
          <p:nvPr/>
        </p:nvSpPr>
        <p:spPr>
          <a:xfrm>
            <a:off x="744583" y="732764"/>
            <a:ext cx="7315200" cy="693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References</a:t>
            </a:r>
            <a:endParaRPr lang="en-US" sz="385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585A379-B709-5A5E-E670-C2EB7DBA0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83" y="-4841498"/>
            <a:ext cx="10793468" cy="895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NIST SP 800-30: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Guide for Conducting Risk Assessments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ISO/IEC 27005: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Information Security Risk Management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ENISA Threat Landscape Report 2023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Krebs on Security (2014):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Email Attack on Vendor Set Up Breach at Target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U.S. Senate Committee on Commerce (2014):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“Kill Chain” Analysis of the 2013 Target Data Breach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Target Corporation (2014):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Press Release – Update on Data Breach and Financial Performance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0B087AF-7026-1815-B70A-B64FA9E30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885" y="7794897"/>
            <a:ext cx="2173515" cy="43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3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1724</Words>
  <Application>Microsoft Macintosh PowerPoint</Application>
  <PresentationFormat>Custom</PresentationFormat>
  <Paragraphs>251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-webkit-standard</vt:lpstr>
      <vt:lpstr>Arial</vt:lpstr>
      <vt:lpstr>Calibri</vt:lpstr>
      <vt:lpstr>Helvetica Neue</vt:lpstr>
      <vt:lpstr>Inter</vt:lpstr>
      <vt:lpstr>Inter 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ANANYA DAHIYA (RA2311030010236)</cp:lastModifiedBy>
  <cp:revision>6</cp:revision>
  <dcterms:created xsi:type="dcterms:W3CDTF">2025-10-22T13:14:16Z</dcterms:created>
  <dcterms:modified xsi:type="dcterms:W3CDTF">2025-10-22T14:32:37Z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C1FED19D16C526ACA8D8F868F8579DF0_43</vt:lpwstr>
  </property>
  <property fmtid="{D5CDD505-2E9C-101B-9397-08002B2CF9AE}" pid="3" name="KSOProductBuildVer">
    <vt:lpwstr>1033-12.1.23135.23135</vt:lpwstr>
  </property>
</Properties>
</file>